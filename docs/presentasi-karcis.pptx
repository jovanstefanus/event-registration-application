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Pembuka (20 detik):
"Selamat pagi/siang. Saya akan mempresentasikan Karcis, aplikasi web untuk membuat kegiatan dan mendaftar ke kegiatan. Aplikasi ini berjalan sepenuhnya di Docker Compose dengan tiga komponen: Nginx sebagai frontend, FastAPI sebagai backend/API, dan PostgreSQL sebagai database. Presentasi saya bagi menjadi tiga bagian: antarmuka pengguna, backend/API, dan database persisten, plus demo singkat."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Ringkasan (30 detik):
Sebutkan pembagian waktu supaya audiens tahu alurnya. Tekankan bahwa ketiga bagian saling terhubung: UI memanggil API, API menyimpan ke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Arsitektur (30 detik):
Tunjukkan diagram. Poin penting: database tidak diekspos ke host - hanya bisa diakses antar-container di backend_net. Nginx memisahkan jaringan frontend_net dan backend_net.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Peran (30 detik):
Jelaskan bahwa pembuat acara harus disetujui admin dulu (tabel akun), dan hak akses benar-benar ditegakkan di API - saya buktikan lewat uji 403/401 di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UI - masuk/daftar (40 detik):
Tunjukkan bahwa login satu pintu, sedangkan pendaftaran memisahkan peran. Sebutkan validasi: email harus valid, telepon 9-15 digit, password minimal 8 karakter.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UI - dasbor (40 detik):
Tekankan: filter dan paginasi diproses di backend, bukan memuat semua data lalu menyaring di browser.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UI - peta &amp; poster (40 detik):
Ini fitur yang paling sering ditanya. Jelaskan bahwa geocoding diproksikan lewat backend (cache + User-Agent) supaya tidak membebani Nominatim dan tidak membocorkan kunci apa pun.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UI - detail &amp; tiket (40 detik):
Tunjukkan kode tiket unik per pendaftaran (dijamin unique index di database) dan alur check-in.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UI - daftar tunggu &amp; error (40 detik):
Saat kuota penuh, peserta bisa ikut daftar tunggu; ketika ada yang membatalkan, kursi ditawarkan otomatis ke antrean paling awal. Mode gelap mengikuti preferensi sistem dan bisa diubah manual. Semua error yang diuji punya pesan yang jelas.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Backend (45 detik):
Sorot pemisahan tanggung jawab: routing+validasi (FastAPI/Pydantic), keamanan (JWT/bcrypt), dan observability (/health, /metrics).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Endpoint (45 detik):
Tunjukkan pola: setiap sumber daya punya endpoint CRUD dengan pembatasan peran. Sebutkan Swagger /docs sebagai bukti API dapat diuji langsung.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Keamanan (40 detik):
Tekankan dua hal: (1) validasi berlapis - UI, Pydantic, dan constraint database; (2) race condition pada kuota ditangani dengan row lock, bukan sekadar pengecekan biasa.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Database - skema (45 detik):
Jelaskan bahwa integritas dijaga di level database (UNIQUE, CHECK, FOREIGN KEY), bukan hanya di aplikasi. Contoh: pendaftaran ganda dan kode tiket unik dijamin oleh index.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Database - persistensi (45 detik):
Ini inti kata 'persisten'. Tunjukkan screenshot docker compose ps (semua healthy). Tekankan: menghapus container tidak menghapus data karena volumelah yang menyimpannya.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Penutup (15 detik) + Tanya jawab (1 menit):
Ulangi tiga poin sesuai judul tugas, lalu buka sesi tanya jawab. Jika ditanya soal kode: sebutkan branch fitur-lanjutan dan bahwa semuanya sudah di-push.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B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34840"/>
            <a:ext cx="12191695" cy="10972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2344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spc="200" kern="0" dirty="0">
                <a:solidFill>
                  <a:srgbClr val="FFFFFF"/>
                </a:solidFill>
              </a:rPr>
              <a:t>KARCIS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77240" y="21488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BCE3DA"/>
                </a:solidFill>
              </a:rPr>
              <a:t>Aplikasi Pendaftaran Kegiatan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4F1"/>
                </a:solidFill>
              </a:rPr>
              <a:t>Proyek Cloud Services  ·  Antarmuka Pengguna, Backend/API, dan Database Persisten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34290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B429"/>
                </a:solidFill>
              </a:rPr>
              <a:t>Docker &amp; Docker Compose   ·   FastAPI (Python)   ·   PostgreSQL 16   ·   Nginx   ·   OpenStreetMap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47091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CE3DA"/>
                </a:solidFill>
              </a:rPr>
              <a:t>Presentasi 10 menit   ·   Nama / NIM: ____________________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B429"/>
                </a:solidFill>
              </a:rPr>
              <a:t>RINGKASAN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4F4A"/>
                </a:solidFill>
              </a:rPr>
              <a:t>Agenda dan Alokasi Waktu (10 menit)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35024"/>
            <a:ext cx="11091672" cy="18288"/>
          </a:xfrm>
          <a:prstGeom prst="rect">
            <a:avLst/>
          </a:prstGeom>
          <a:solidFill>
            <a:srgbClr val="C9D3CD"/>
          </a:solidFill>
          <a:ln w="12700">
            <a:solidFill>
              <a:srgbClr val="C9D3CD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371600"/>
                <a:gridCol w="661111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0221F"/>
                          </a:solidFill>
                        </a:rPr>
                        <a:t>Bagian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0221F"/>
                          </a:solidFill>
                        </a:rPr>
                        <a:t>Durasi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0221F"/>
                          </a:solidFill>
                        </a:rPr>
                        <a:t>Pokok bahasan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0221F"/>
                          </a:solidFill>
                        </a:rPr>
                        <a:t>Arsitektur &amp; peran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0221F"/>
                          </a:solidFill>
                        </a:rPr>
                        <a:t>1 menit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0221F"/>
                          </a:solidFill>
                        </a:rPr>
                        <a:t>Tiga peran, alur utama, arsitektur container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0221F"/>
                          </a:solidFill>
                        </a:rPr>
                        <a:t>1. Antarmuka pengguna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0221F"/>
                          </a:solidFill>
                        </a:rPr>
                        <a:t>3 menit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0221F"/>
                          </a:solidFill>
                        </a:rPr>
                        <a:t>Masuk/daftar, dasbor, peta &amp; poster, detail, tiket QR, mode gelap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0221F"/>
                          </a:solidFill>
                        </a:rPr>
                        <a:t>2. Backend / API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0221F"/>
                          </a:solidFill>
                        </a:rPr>
                        <a:t>3 menit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0221F"/>
                          </a:solidFill>
                        </a:rPr>
                        <a:t>FastAPI, endpoint, JWT &amp; hak akses, validasi, keamanan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0221F"/>
                          </a:solidFill>
                        </a:rPr>
                        <a:t>3. Database persisten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0221F"/>
                          </a:solidFill>
                        </a:rPr>
                        <a:t>2 menit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0221F"/>
                          </a:solidFill>
                        </a:rPr>
                        <a:t>Skema tabel, volume pgdata &amp; uploads, uji persistensi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0221F"/>
                          </a:solidFill>
                        </a:rPr>
                        <a:t>Tanya jawab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0221F"/>
                          </a:solidFill>
                        </a:rPr>
                        <a:t>1 menit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0221F"/>
                          </a:solidFill>
                        </a:rPr>
                        <a:t>-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0292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A66"/>
                </a:solidFill>
              </a:rPr>
              <a:t>Fokus: bagaimana ketiga lapisan ini bekerja bersama untuk satu tujuan - membuat kegiatan dan mendaftar dengan aman dan persisten.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B429"/>
                </a:solidFill>
              </a:rPr>
              <a:t>GAMBARAN UMUM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4F4A"/>
                </a:solidFill>
              </a:rPr>
              <a:t>Arsitektur: tiga layanan dalam Docker Compose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35024"/>
            <a:ext cx="11091672" cy="18288"/>
          </a:xfrm>
          <a:prstGeom prst="rect">
            <a:avLst/>
          </a:prstGeom>
          <a:solidFill>
            <a:srgbClr val="C9D3CD"/>
          </a:solidFill>
          <a:ln w="12700">
            <a:solidFill>
              <a:srgbClr val="C9D3CD"/>
            </a:solidFill>
            <a:prstDash val="solid"/>
          </a:ln>
        </p:spPr>
      </p:sp>
      <p:pic>
        <p:nvPicPr>
          <p:cNvPr id="6" name="Image 0" descr="E:\Binus\Sems 5\Cloud Services\Lab\Sesi6\Assg\event-registration-application\docs\arsitekt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52387"/>
            <a:ext cx="7040880" cy="341042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952387"/>
            <a:ext cx="7040880" cy="3410426"/>
          </a:xfrm>
          <a:prstGeom prst="rect">
            <a:avLst/>
          </a:prstGeom>
          <a:ln w="9525">
            <a:solidFill>
              <a:srgbClr val="C9D3C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26680" y="1600200"/>
            <a:ext cx="397764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0221F"/>
                </a:solidFill>
              </a:rPr>
              <a:t>Browser -&gt; Nginx (port 8080): menyajikan halaman statis dan mem-proxy /api/* ke backend.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0221F"/>
                </a:solidFill>
              </a:rPr>
              <a:t>Backend FastAPI (port 8000): REST API, autentikasi JWT, hak akses per peran, unggah poster, proxy geocode.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0221F"/>
                </a:solidFill>
              </a:rPr>
              <a:t>PostgreSQL 16: hanya ada di jaringan backend_net, tidak dipublikasikan ke host.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0221F"/>
                </a:solidFill>
              </a:rPr>
              <a:t>Dua volume: pgdata (database) dan uploads (poster kegiatan).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0221F"/>
                </a:solidFill>
              </a:rPr>
              <a:t>Komunikasi antar-container lewat nama service (DNS internal Docker).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B429"/>
                </a:solidFill>
              </a:rPr>
              <a:t>PERAN PENGGUNA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4F4A"/>
                </a:solidFill>
              </a:rPr>
              <a:t>Tiga peran dan alur utama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35024"/>
            <a:ext cx="11091672" cy="18288"/>
          </a:xfrm>
          <a:prstGeom prst="rect">
            <a:avLst/>
          </a:prstGeom>
          <a:solidFill>
            <a:srgbClr val="C9D3CD"/>
          </a:solidFill>
          <a:ln w="12700">
            <a:solidFill>
              <a:srgbClr val="C9D3C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45920"/>
            <a:ext cx="58521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0221F"/>
                </a:solidFill>
              </a:rPr>
              <a:t>Peserta: mendaftar ke kegiatan, melihat tiket QR, mengelola pendaftarannya, memberi ulasan.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0221F"/>
                </a:solidFill>
              </a:rPr>
              <a:t>Pembuat acara: membuat kegiatan (peta, poster, pertanyaan tambahan); akun aktif setelah disetujui admin.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0221F"/>
                </a:solidFill>
              </a:rPr>
              <a:t>Admin: menyetujui/menghapus akun, memantau seluruh kegiatan dan pendaftaran, check-in peserta.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0221F"/>
                </a:solidFill>
              </a:rPr>
              <a:t>Hak akses dijaga di backend (401 bila belum login, 403 bila di luar peran), bukan hanya disembunyikan di UI.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783080"/>
          <a:ext cx="50292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731520"/>
                <a:gridCol w="1554480"/>
                <a:gridCol w="1005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221F"/>
                          </a:solidFill>
                        </a:rPr>
                        <a:t>Aksi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221F"/>
                          </a:solidFill>
                        </a:rPr>
                        <a:t>Admin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221F"/>
                          </a:solidFill>
                        </a:rPr>
                        <a:t>Pembuat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221F"/>
                          </a:solidFill>
                        </a:rPr>
                        <a:t>Peserta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21F"/>
                          </a:solidFill>
                        </a:rPr>
                        <a:t>Buat kegiatan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21F"/>
                          </a:solidFill>
                        </a:rPr>
                        <a:t>x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21F"/>
                          </a:solidFill>
                        </a:rPr>
                        <a:t>v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21F"/>
                          </a:solidFill>
                        </a:rPr>
                        <a:t>x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21F"/>
                          </a:solidFill>
                        </a:rPr>
                        <a:t>Ubah/hapus kegiatan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21F"/>
                          </a:solidFill>
                        </a:rPr>
                        <a:t>semua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21F"/>
                          </a:solidFill>
                        </a:rPr>
                        <a:t>milik sendiri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21F"/>
                          </a:solidFill>
                        </a:rPr>
                        <a:t>x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21F"/>
                          </a:solidFill>
                        </a:rPr>
                        <a:t>Daftar ke kegiatan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21F"/>
                          </a:solidFill>
                        </a:rPr>
                        <a:t>x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21F"/>
                          </a:solidFill>
                        </a:rPr>
                        <a:t>x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21F"/>
                          </a:solidFill>
                        </a:rPr>
                        <a:t>v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21F"/>
                          </a:solidFill>
                        </a:rPr>
                        <a:t>Batalkan pendaftaran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21F"/>
                          </a:solidFill>
                        </a:rPr>
                        <a:t>semua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21F"/>
                          </a:solidFill>
                        </a:rPr>
                        <a:t>pendaftar di kegiatannya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21F"/>
                          </a:solidFill>
                        </a:rPr>
                        <a:t>milik sendiri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21F"/>
                          </a:solidFill>
                        </a:rPr>
                        <a:t>Setujui / hapus akun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21F"/>
                          </a:solidFill>
                        </a:rPr>
                        <a:t>v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21F"/>
                          </a:solidFill>
                        </a:rPr>
                        <a:t>x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21F"/>
                          </a:solidFill>
                        </a:rPr>
                        <a:t>x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B429"/>
                </a:solidFill>
              </a:rPr>
              <a:t>1. ANTARMUKA PENGGUNA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4F4A"/>
                </a:solidFill>
              </a:rPr>
              <a:t>Halaman masuk dan buat akun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35024"/>
            <a:ext cx="11091672" cy="18288"/>
          </a:xfrm>
          <a:prstGeom prst="rect">
            <a:avLst/>
          </a:prstGeom>
          <a:solidFill>
            <a:srgbClr val="C9D3CD"/>
          </a:solidFill>
          <a:ln w="12700">
            <a:solidFill>
              <a:srgbClr val="C9D3CD"/>
            </a:solidFill>
            <a:prstDash val="solid"/>
          </a:ln>
        </p:spPr>
      </p:sp>
      <p:pic>
        <p:nvPicPr>
          <p:cNvPr id="6" name="Image 0" descr="E:\Binus\Sems 5\Cloud Services\Lab\Sesi6\Assg\event-registration-application\docs\fitur\fitur-01-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2600"/>
            <a:ext cx="5486400" cy="3810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752600"/>
            <a:ext cx="5486400" cy="3810000"/>
          </a:xfrm>
          <a:prstGeom prst="rect">
            <a:avLst/>
          </a:prstGeom>
          <a:ln w="9525">
            <a:solidFill>
              <a:srgbClr val="C9D3CD"/>
            </a:solidFill>
            <a:prstDash val="solid"/>
          </a:ln>
        </p:spPr>
      </p:sp>
      <p:pic>
        <p:nvPicPr>
          <p:cNvPr id="8" name="Image 1" descr="E:\Binus\Sems 5\Cloud Services\Lab\Sesi6\Assg\event-registration-application\docs\fitur\fitur-02-regis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784350"/>
            <a:ext cx="5394960" cy="37465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263640" y="1784350"/>
            <a:ext cx="5394960" cy="3746500"/>
          </a:xfrm>
          <a:prstGeom prst="rect">
            <a:avLst/>
          </a:prstGeom>
          <a:ln w="9525">
            <a:solidFill>
              <a:srgbClr val="C9D3C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48640" y="58064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566A66"/>
                </a:solidFill>
              </a:rPr>
              <a:t>Satu pintu masuk untuk semua peran; setelah login diarahkan ke dasbor sesuai peran.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566A66"/>
                </a:solidFill>
              </a:rPr>
              <a:t>Halaman daftar terpisah dengan pilihan peran (Peserta / Pembuat acara) dan validasi langsung.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566A66"/>
                </a:solidFill>
              </a:rPr>
              <a:t>Pesan status jelas: akun dibuat, atau menunggu persetujuan admin (pembuat acara).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B429"/>
                </a:solidFill>
              </a:rPr>
              <a:t>1. ANTARMUKA PENGGUNA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4F4A"/>
                </a:solidFill>
              </a:rPr>
              <a:t>Dasbor dan katalog kegiatan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35024"/>
            <a:ext cx="11091672" cy="18288"/>
          </a:xfrm>
          <a:prstGeom prst="rect">
            <a:avLst/>
          </a:prstGeom>
          <a:solidFill>
            <a:srgbClr val="C9D3CD"/>
          </a:solidFill>
          <a:ln w="12700">
            <a:solidFill>
              <a:srgbClr val="C9D3CD"/>
            </a:solidFill>
            <a:prstDash val="solid"/>
          </a:ln>
        </p:spPr>
      </p:sp>
      <p:pic>
        <p:nvPicPr>
          <p:cNvPr id="6" name="Image 0" descr="E:\Binus\Sems 5\Cloud Services\Lab\Sesi6\Assg\event-registration-application\docs\fitur\fitur-03-dashboard-peser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5603" y="1554480"/>
            <a:ext cx="2819435" cy="4297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65603" y="1554480"/>
            <a:ext cx="2819435" cy="4297680"/>
          </a:xfrm>
          <a:prstGeom prst="rect">
            <a:avLst/>
          </a:prstGeom>
          <a:ln w="9525">
            <a:solidFill>
              <a:srgbClr val="C9D3C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737360"/>
            <a:ext cx="41148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0221F"/>
                </a:solidFill>
              </a:rPr>
              <a:t>Kartu bergaya karcis: stub tanggal, garis sobekan, dan badge status.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0221F"/>
                </a:solidFill>
              </a:rPr>
              <a:t>Setiap kartu menampilkan poster, kategori, penyelenggara, dan sisa kursi (bar kapasitas).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0221F"/>
                </a:solidFill>
              </a:rPr>
              <a:t>Pencarian (nama/lokasi/kategori) dan filter: kategori, rentang tanggal, hanya yang ada kursi.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0221F"/>
                </a:solidFill>
              </a:rPr>
              <a:t>Paginasi di sisi server; daftar pengguna (admin) juga dipaginasi dan dapat dicari.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B429"/>
                </a:solidFill>
              </a:rPr>
              <a:t>1. ANTARMUKA PENGGUNA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4F4A"/>
                </a:solidFill>
              </a:rPr>
              <a:t>Peta lokasi dan poster kegiatan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35024"/>
            <a:ext cx="11091672" cy="18288"/>
          </a:xfrm>
          <a:prstGeom prst="rect">
            <a:avLst/>
          </a:prstGeom>
          <a:solidFill>
            <a:srgbClr val="C9D3CD"/>
          </a:solidFill>
          <a:ln w="12700">
            <a:solidFill>
              <a:srgbClr val="C9D3CD"/>
            </a:solidFill>
            <a:prstDash val="solid"/>
          </a:ln>
        </p:spPr>
      </p:sp>
      <p:pic>
        <p:nvPicPr>
          <p:cNvPr id="6" name="Image 0" descr="E:\Binus\Sems 5\Cloud Services\Lab\Sesi6\Assg\event-registration-application\docs\fitur\fitur-04-dialog-pe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1554480"/>
            <a:ext cx="6188659" cy="4297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111910" y="1554480"/>
            <a:ext cx="6188659" cy="4297680"/>
          </a:xfrm>
          <a:prstGeom prst="rect">
            <a:avLst/>
          </a:prstGeom>
          <a:ln w="9525">
            <a:solidFill>
              <a:srgbClr val="C9D3C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0" y="1691640"/>
            <a:ext cx="36576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0221F"/>
                </a:solidFill>
              </a:rPr>
              <a:t>Ketik alamat -&gt; tombol Cari -&gt; pin jatuh di titik tersebut (Nominatim/OpenStreetMap, gratis tanpa API key).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0221F"/>
                </a:solidFill>
              </a:rPr>
              <a:t>Geser pin -&gt; alamat otomatis ikut berubah (reverse geocode). Koordinat diisi otomatis, tidak diketik manual.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0221F"/>
                </a:solidFill>
              </a:rPr>
              <a:t>Poster diunggah (JPG/PNG/WEBP/GIF, maks 5 MB), disimpan di volume uploads.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0221F"/>
                </a:solidFill>
              </a:rPr>
              <a:t>Pembuat acara bisa menambah pertanyaan pendaftaran sendiri (teks, angka, pilihan, centang).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B429"/>
                </a:solidFill>
              </a:rPr>
              <a:t>1. ANTARMUKA PENGGUNA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4F4A"/>
                </a:solidFill>
              </a:rPr>
              <a:t>Detail kegiatan, tiket QR, dan check-in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35024"/>
            <a:ext cx="11091672" cy="18288"/>
          </a:xfrm>
          <a:prstGeom prst="rect">
            <a:avLst/>
          </a:prstGeom>
          <a:solidFill>
            <a:srgbClr val="C9D3CD"/>
          </a:solidFill>
          <a:ln w="12700">
            <a:solidFill>
              <a:srgbClr val="C9D3CD"/>
            </a:solidFill>
            <a:prstDash val="solid"/>
          </a:ln>
        </p:spPr>
      </p:sp>
      <p:pic>
        <p:nvPicPr>
          <p:cNvPr id="6" name="Image 0" descr="E:\Binus\Sems 5\Cloud Services\Lab\Sesi6\Assg\event-registration-application\docs\fitur\fitur-05-detail-aca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687" y="1600200"/>
            <a:ext cx="4982547" cy="4069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7687" y="1600200"/>
            <a:ext cx="4982547" cy="4069080"/>
          </a:xfrm>
          <a:prstGeom prst="rect">
            <a:avLst/>
          </a:prstGeom>
          <a:ln w="9525">
            <a:solidFill>
              <a:srgbClr val="C9D3CD"/>
            </a:solidFill>
            <a:prstDash val="solid"/>
          </a:ln>
        </p:spPr>
      </p:sp>
      <p:pic>
        <p:nvPicPr>
          <p:cNvPr id="8" name="Image 1" descr="E:\Binus\Sems 5\Cloud Services\Lab\Sesi6\Assg\event-registration-application\docs\fitur\fitur-06-tiket-q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634490"/>
            <a:ext cx="5760720" cy="40005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897880" y="1634490"/>
            <a:ext cx="5760720" cy="4000500"/>
          </a:xfrm>
          <a:prstGeom prst="rect">
            <a:avLst/>
          </a:prstGeom>
          <a:ln w="9525">
            <a:solidFill>
              <a:srgbClr val="C9D3C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48640" y="5760720"/>
            <a:ext cx="110916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66A66"/>
                </a:solidFill>
              </a:rPr>
              <a:t>Halaman /event: poster besar, peta, deskripsi, daftar pertanyaan, dan ulasan peserta.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66A66"/>
                </a:solidFill>
              </a:rPr>
              <a:t>Setiap pendaftaran mendapat kode tiket unik -&gt; ditampilkan sebagai QR di dasbor.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66A66"/>
                </a:solidFill>
              </a:rPr>
              <a:t>Panitia menandai kehadiran lewat menu Check-in dengan memasukkan kode; check-in ulang ditolak (409).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66A66"/>
                </a:solidFill>
              </a:rPr>
              <a:t>Panitia dapat mengunduh daftar peserta (CSV) dan menambahkan kegiatan ke kalender (.ics).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B429"/>
                </a:solidFill>
              </a:rPr>
              <a:t>1. ANTARMUKA PENGGUNA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4F4A"/>
                </a:solidFill>
              </a:rPr>
              <a:t>Daftar tunggu, mode gelap, dan penanganan error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35024"/>
            <a:ext cx="11091672" cy="18288"/>
          </a:xfrm>
          <a:prstGeom prst="rect">
            <a:avLst/>
          </a:prstGeom>
          <a:solidFill>
            <a:srgbClr val="C9D3CD"/>
          </a:solidFill>
          <a:ln w="12700">
            <a:solidFill>
              <a:srgbClr val="C9D3CD"/>
            </a:solidFill>
            <a:prstDash val="solid"/>
          </a:ln>
        </p:spPr>
      </p:sp>
      <p:pic>
        <p:nvPicPr>
          <p:cNvPr id="6" name="Image 0" descr="E:\Binus\Sems 5\Cloud Services\Lab\Sesi6\Assg\event-registration-application\docs\fitur\fitur-07-daftar-tungg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5062" y="1600200"/>
            <a:ext cx="4213555" cy="2926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185062" y="1600200"/>
            <a:ext cx="4213555" cy="2926080"/>
          </a:xfrm>
          <a:prstGeom prst="rect">
            <a:avLst/>
          </a:prstGeom>
          <a:ln w="9525">
            <a:solidFill>
              <a:srgbClr val="C9D3CD"/>
            </a:solidFill>
            <a:prstDash val="solid"/>
          </a:ln>
        </p:spPr>
      </p:sp>
      <p:pic>
        <p:nvPicPr>
          <p:cNvPr id="8" name="Image 1" descr="E:\Binus\Sems 5\Cloud Services\Lab\Sesi6\Assg\event-registration-application\docs\fitur\fitur-13-mode-gel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0278" y="1600200"/>
            <a:ext cx="1821684" cy="29260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050278" y="1600200"/>
            <a:ext cx="1821684" cy="2926080"/>
          </a:xfrm>
          <a:prstGeom prst="rect">
            <a:avLst/>
          </a:prstGeom>
          <a:ln w="9525">
            <a:solidFill>
              <a:srgbClr val="C9D3CD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70916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280160"/>
                <a:gridCol w="651967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221F"/>
                          </a:solidFill>
                        </a:rPr>
                        <a:t>Kasus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221F"/>
                          </a:solidFill>
                        </a:rPr>
                        <a:t>Respons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221F"/>
                          </a:solidFill>
                        </a:rPr>
                        <a:t>Pesan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21F"/>
                          </a:solidFill>
                        </a:rPr>
                        <a:t>Login password salah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21F"/>
                          </a:solidFill>
                        </a:rPr>
                        <a:t>401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21F"/>
                          </a:solidFill>
                        </a:rPr>
                        <a:t>Email atau password salah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21F"/>
                          </a:solidFill>
                        </a:rPr>
                        <a:t>Email tidak valid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21F"/>
                          </a:solidFill>
                        </a:rPr>
                        <a:t>422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21F"/>
                          </a:solidFill>
                        </a:rPr>
                        <a:t>Pesan validasi dari Pydantic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21F"/>
                          </a:solidFill>
                        </a:rPr>
                        <a:t>Kode tiket salah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21F"/>
                          </a:solidFill>
                        </a:rPr>
                        <a:t>404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21F"/>
                          </a:solidFill>
                        </a:rPr>
                        <a:t>Kode tiket tidak ditemukan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21F"/>
                          </a:solidFill>
                        </a:rPr>
                        <a:t>Pendaftaran ganda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21F"/>
                          </a:solidFill>
                        </a:rPr>
                        <a:t>409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21F"/>
                          </a:solidFill>
                        </a:rPr>
                        <a:t>Email sudah terdaftar pada kegiatan ini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B429"/>
                </a:solidFill>
              </a:rPr>
              <a:t>2. BACKEND / API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4F4A"/>
                </a:solidFill>
              </a:rPr>
              <a:t>Teknologi dan struktur backend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35024"/>
            <a:ext cx="11091672" cy="18288"/>
          </a:xfrm>
          <a:prstGeom prst="rect">
            <a:avLst/>
          </a:prstGeom>
          <a:solidFill>
            <a:srgbClr val="C9D3CD"/>
          </a:solidFill>
          <a:ln w="12700">
            <a:solidFill>
              <a:srgbClr val="C9D3C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91640"/>
            <a:ext cx="11091672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0221F"/>
                </a:solidFill>
              </a:rPr>
              <a:t>FastAPI + Uvicorn (Python 3.12) dalam container, dijalankan sebagai user non-root.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0221F"/>
                </a:solidFill>
              </a:rPr>
              <a:t>Validasi input dengan Pydantic; password di-hash dengan bcrypt; token dengan PyJWT (HS256, 8 jam).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0221F"/>
                </a:solidFill>
              </a:rPr>
              <a:t>Autentikasi Bearer token; dependensi require_roles(...) menegakkan hak akses per peran.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0221F"/>
                </a:solidFill>
              </a:rPr>
              <a:t>Proxy geocode ke Nominatim (dengan cache), unggah berkas (python-multipart), email opsional via SMTP.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0221F"/>
                </a:solidFill>
              </a:rPr>
              <a:t>Observability: /health (cek database) dan /metrics gaya Prometheus (opsional Prometheus di profil terpisah).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0221F"/>
                </a:solidFill>
              </a:rPr>
              <a:t>Log terstruktur untuk setiap request beserta durasinya.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B429"/>
                </a:solidFill>
              </a:rPr>
              <a:t>2. BACKEND / API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4F4A"/>
                </a:solidFill>
              </a:rPr>
              <a:t>Endpoint utama dan otorisasi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35024"/>
            <a:ext cx="11091672" cy="18288"/>
          </a:xfrm>
          <a:prstGeom prst="rect">
            <a:avLst/>
          </a:prstGeom>
          <a:solidFill>
            <a:srgbClr val="C9D3CD"/>
          </a:solidFill>
          <a:ln w="12700">
            <a:solidFill>
              <a:srgbClr val="C9D3CD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5943600"/>
                <a:gridCol w="313639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221F"/>
                          </a:solidFill>
                        </a:rPr>
                        <a:t>Kelompok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221F"/>
                          </a:solidFill>
                        </a:rPr>
                        <a:t>Endpoint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221F"/>
                          </a:solidFill>
                        </a:rPr>
                        <a:t>Akses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21F"/>
                          </a:solidFill>
                        </a:rPr>
                        <a:t>Autentikasi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21F"/>
                          </a:solidFill>
                        </a:rPr>
                        <a:t>/api/auth/register · /login · /refresh · /me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21F"/>
                          </a:solidFill>
                        </a:rPr>
                        <a:t>semua / publik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21F"/>
                          </a:solidFill>
                        </a:rPr>
                        <a:t>Kegiatan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21F"/>
                          </a:solidFill>
                        </a:rPr>
                        <a:t>GET /api/events (filter + paginasi) · GET /api/events/{id}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21F"/>
                          </a:solidFill>
                        </a:rPr>
                        <a:t>semua yang login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21F"/>
                          </a:solidFill>
                        </a:rPr>
                        <a:t>Kegiatan (tulis)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21F"/>
                          </a:solidFill>
                        </a:rPr>
                        <a:t>POST · PUT · DELETE /api/events/{id}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21F"/>
                          </a:solidFill>
                        </a:rPr>
                        <a:t>pembuat acara (miliknya), admin (hapus)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21F"/>
                          </a:solidFill>
                        </a:rPr>
                        <a:t>Poster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21F"/>
                          </a:solidFill>
                        </a:rPr>
                        <a:t>POST · DELETE /api/events/{id}/poster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21F"/>
                          </a:solidFill>
                        </a:rPr>
                        <a:t>pemilik / admin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21F"/>
                          </a:solidFill>
                        </a:rPr>
                        <a:t>Pendaftaran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21F"/>
                          </a:solidFill>
                        </a:rPr>
                        <a:t>POST · PUT · DELETE /api/registrations · POST /checkin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21F"/>
                          </a:solidFill>
                        </a:rPr>
                        <a:t>peserta / panitia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21F"/>
                          </a:solidFill>
                        </a:rPr>
                        <a:t>Daftar tunggu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21F"/>
                          </a:solidFill>
                        </a:rPr>
                        <a:t>POST · GET · DELETE /api/waitlist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21F"/>
                          </a:solidFill>
                        </a:rPr>
                        <a:t>peserta / panitia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21F"/>
                          </a:solidFill>
                        </a:rPr>
                        <a:t>Lain-lain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21F"/>
                          </a:solidFill>
                        </a:rPr>
                        <a:t>reviews · participants.csv · calendar.ics · geocode · users (admin) · stats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21F"/>
                          </a:solidFill>
                        </a:rPr>
                        <a:t>sesuai peran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8064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A66"/>
                </a:solidFill>
              </a:rPr>
              <a:t>Dokumentasi interaktif tersedia di Swagger: http://localhost:8000/docs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B429"/>
                </a:solidFill>
              </a:rPr>
              <a:t>2. BACKEND / API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4F4A"/>
                </a:solidFill>
              </a:rPr>
              <a:t>Validasi dan keamanan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35024"/>
            <a:ext cx="11091672" cy="18288"/>
          </a:xfrm>
          <a:prstGeom prst="rect">
            <a:avLst/>
          </a:prstGeom>
          <a:solidFill>
            <a:srgbClr val="C9D3CD"/>
          </a:solidFill>
          <a:ln w="12700">
            <a:solidFill>
              <a:srgbClr val="C9D3C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91640"/>
            <a:ext cx="54406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0221F"/>
                </a:solidFill>
              </a:rPr>
              <a:t>Validasi: email valid, telepon 9-15 digit, password minimal 8 karakter, kuota 1-10000.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0221F"/>
                </a:solidFill>
              </a:rPr>
              <a:t>Aturan bisnis: kuota penuh ditolak (409); pendaftaran ganda ditolak (409) - dijaga juga oleh constraint database.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0221F"/>
                </a:solidFill>
              </a:rPr>
              <a:t>Kegiatan draft/dibatalkan tidak bisa didaftari; pertanyaan wajib divalidasi di server.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63640" y="1691640"/>
            <a:ext cx="53949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0221F"/>
                </a:solidFill>
              </a:rPr>
              <a:t>Pengecekan kuota memakai penguncian baris (SELECT ... FOR UPDATE) agar aman saat pendaftaran bersamaan.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0221F"/>
                </a:solidFill>
              </a:rPr>
              <a:t>Rate limit login di Nginx (limit_req) -&gt; 429 bila berlebihan; batas ukuran unggahan 5 MB; DB tidak diekspos ke host.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0221F"/>
                </a:solidFill>
              </a:rPr>
              <a:t>Kredensial hanya di .env (tidak masuk repo); password di-hash bcrypt; ada CI GitHub Actions untuk cek sintaks &amp; build.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B429"/>
                </a:solidFill>
              </a:rPr>
              <a:t>3. DATABASE PERSISTEN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4F4A"/>
                </a:solidFill>
              </a:rPr>
              <a:t>Skema dan tabel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35024"/>
            <a:ext cx="11091672" cy="18288"/>
          </a:xfrm>
          <a:prstGeom prst="rect">
            <a:avLst/>
          </a:prstGeom>
          <a:solidFill>
            <a:srgbClr val="C9D3CD"/>
          </a:solidFill>
          <a:ln w="12700">
            <a:solidFill>
              <a:srgbClr val="C9D3CD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846320"/>
                <a:gridCol w="359359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221F"/>
                          </a:solidFill>
                        </a:rPr>
                        <a:t>Tabel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221F"/>
                          </a:solidFill>
                        </a:rPr>
                        <a:t>Isi utama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221F"/>
                          </a:solidFill>
                        </a:rPr>
                        <a:t>Kunci / aturan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21F"/>
                          </a:solidFill>
                        </a:rPr>
                        <a:t>users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21F"/>
                          </a:solidFill>
                        </a:rPr>
                        <a:t>nama, email, telepon, password (bcrypt), role, status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21F"/>
                          </a:solidFill>
                        </a:rPr>
                        <a:t>email UNIQUE; role: admin/organizer/user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21F"/>
                          </a:solidFill>
                        </a:rPr>
                        <a:t>events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21F"/>
                          </a:solidFill>
                        </a:rPr>
                        <a:t>nama, deskripsi, tanggal, lokasi, lat/lng, poster, kategori, status, kuota, owner_id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21F"/>
                          </a:solidFill>
                        </a:rPr>
                        <a:t>status: draft/published/cancelled; FK owner ON DELETE CASCADE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21F"/>
                          </a:solidFill>
                        </a:rPr>
                        <a:t>registrations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21F"/>
                          </a:solidFill>
                        </a:rPr>
                        <a:t>kegiatan, akun, nama, email, telepon, kode tiket, check-in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21F"/>
                          </a:solidFill>
                        </a:rPr>
                        <a:t>UNIQUE (event_id, email); kode UNIQUE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21F"/>
                          </a:solidFill>
                        </a:rPr>
                        <a:t>event_fields + registration_answers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21F"/>
                          </a:solidFill>
                        </a:rPr>
                        <a:t>pertanyaan tambahan per kegiatan dan jawabannya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21F"/>
                          </a:solidFill>
                        </a:rPr>
                        <a:t>FK ke events/registrations, CASCADE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21F"/>
                          </a:solidFill>
                        </a:rPr>
                        <a:t>waitlist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21F"/>
                          </a:solidFill>
                        </a:rPr>
                        <a:t>antrean saat kuota penuh (status waiting/notified/converted)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21F"/>
                          </a:solidFill>
                        </a:rPr>
                        <a:t>UNIQUE (event_id, email)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21F"/>
                          </a:solidFill>
                        </a:rPr>
                        <a:t>reviews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21F"/>
                          </a:solidFill>
                        </a:rPr>
                        <a:t>rating 1-5 dan komentar peserta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21F"/>
                          </a:solidFill>
                        </a:rPr>
                        <a:t>UNIQUE (event_id, user_id)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B429"/>
                </a:solidFill>
              </a:rPr>
              <a:t>3. DATABASE PERSISTEN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4F4A"/>
                </a:solidFill>
              </a:rPr>
              <a:t>Persistensi: volume, migrasi, dan uji hidup-mati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35024"/>
            <a:ext cx="11091672" cy="18288"/>
          </a:xfrm>
          <a:prstGeom prst="rect">
            <a:avLst/>
          </a:prstGeom>
          <a:solidFill>
            <a:srgbClr val="C9D3CD"/>
          </a:solidFill>
          <a:ln w="12700">
            <a:solidFill>
              <a:srgbClr val="C9D3CD"/>
            </a:solidFill>
            <a:prstDash val="solid"/>
          </a:ln>
        </p:spPr>
      </p:sp>
      <p:pic>
        <p:nvPicPr>
          <p:cNvPr id="6" name="Image 0" descr="E:\Binus\Sems 5\Cloud Services\Lab\Sesi6\Assg\event-registration-application\docs\bukti-uji\uji-00-compose-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2167414"/>
            <a:ext cx="5623560" cy="316325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35040" y="2167414"/>
            <a:ext cx="5623560" cy="3163253"/>
          </a:xfrm>
          <a:prstGeom prst="rect">
            <a:avLst/>
          </a:prstGeom>
          <a:ln w="9525">
            <a:solidFill>
              <a:srgbClr val="C9D3C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783080"/>
            <a:ext cx="53035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0221F"/>
                </a:solidFill>
              </a:rPr>
              <a:t>Data disimpan di named volume pgdata; poster di volume uploads - keduanya bertahan meski container dihapus.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0221F"/>
                </a:solidFill>
              </a:rPr>
              <a:t>Skema dibuat idempotent (CREATE/ALTER ... IF NOT EXISTS): aman dijalankan ulang dan memigrasi database lama tanpa kehilangan data.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0221F"/>
                </a:solidFill>
              </a:rPr>
              <a:t>Uji: docker compose down lalu up - akun, kegiatan, dan pendaftaran tetap ada.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0221F"/>
                </a:solidFill>
              </a:rPr>
              <a:t>Uji ketahanan: docker compose stop db -&gt; API membalas 503 dan indikator UI merah; start db -&gt; kembali normal.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0221F"/>
                </a:solidFill>
              </a:rPr>
              <a:t>Healthcheck Compose untuk db dan backend memastikan urutan start yang benar.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3B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7315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Ringkasan &amp; Tanya Jawab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8F4F1"/>
                </a:solidFill>
              </a:rPr>
              <a:t>Antarmuka: satu alur untuk tiga peran, dengan peta, poster, tiket QR, dan mode gelap.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8F4F1"/>
                </a:solidFill>
              </a:rPr>
              <a:t>Backend/API: FastAPI dengan JWT, hak akses per peran, validasi berlapis, dan observability.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8F4F1"/>
                </a:solidFill>
              </a:rPr>
              <a:t>Database: PostgreSQL persisten di volume Docker, dengan integritas dijaga di level skema.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41148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B429"/>
                </a:solidFill>
              </a:rPr>
              <a:t>Coba sendiri:  http://localhost:8080    ·    Swagger: http://localhost:8000/docs    ·    Metrik: /metrics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493776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Terima kasih - silakan bertanya.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Karcis - Aplikasi Pendaftaran Kegiatan</dc:title>
  <dc:subject>PptxGenJS Presentation</dc:subject>
  <dc:creator>Karcis</dc:creator>
  <cp:lastModifiedBy>Karcis</cp:lastModifiedBy>
  <cp:revision>1</cp:revision>
  <dcterms:created xsi:type="dcterms:W3CDTF">2026-10-21T15:32:22Z</dcterms:created>
  <dcterms:modified xsi:type="dcterms:W3CDTF">2026-10-21T15:32:22Z</dcterms:modified>
</cp:coreProperties>
</file>